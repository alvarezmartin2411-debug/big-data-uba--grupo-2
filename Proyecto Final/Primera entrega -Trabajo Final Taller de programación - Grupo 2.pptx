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489" r:id="rId2"/>
    <p:sldId id="430" r:id="rId3"/>
    <p:sldId id="509" r:id="rId4"/>
    <p:sldId id="511" r:id="rId5"/>
    <p:sldId id="51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82"/>
    <p:restoredTop sz="92450"/>
  </p:normalViewPr>
  <p:slideViewPr>
    <p:cSldViewPr snapToGrid="0">
      <p:cViewPr varScale="1">
        <p:scale>
          <a:sx n="63" d="100"/>
          <a:sy n="63" d="100"/>
        </p:scale>
        <p:origin x="71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 Alvarez" userId="10705b4323551338" providerId="LiveId" clId="{9DFD7805-24BF-4A68-BB66-FC44D414A98A}"/>
    <pc:docChg chg="undo custSel modSld">
      <pc:chgData name="Martin Alvarez" userId="10705b4323551338" providerId="LiveId" clId="{9DFD7805-24BF-4A68-BB66-FC44D414A98A}" dt="2025-11-05T22:17:03.483" v="376" actId="20577"/>
      <pc:docMkLst>
        <pc:docMk/>
      </pc:docMkLst>
      <pc:sldChg chg="modSp mod">
        <pc:chgData name="Martin Alvarez" userId="10705b4323551338" providerId="LiveId" clId="{9DFD7805-24BF-4A68-BB66-FC44D414A98A}" dt="2025-11-05T22:17:03.483" v="376" actId="20577"/>
        <pc:sldMkLst>
          <pc:docMk/>
          <pc:sldMk cId="2257239353" sldId="430"/>
        </pc:sldMkLst>
        <pc:spChg chg="mod">
          <ac:chgData name="Martin Alvarez" userId="10705b4323551338" providerId="LiveId" clId="{9DFD7805-24BF-4A68-BB66-FC44D414A98A}" dt="2025-11-05T22:17:03.483" v="376" actId="20577"/>
          <ac:spMkLst>
            <pc:docMk/>
            <pc:sldMk cId="2257239353" sldId="430"/>
            <ac:spMk id="2" creationId="{932F5168-5457-EEB9-2127-27DFCC8EE97A}"/>
          </ac:spMkLst>
        </pc:spChg>
        <pc:spChg chg="mod">
          <ac:chgData name="Martin Alvarez" userId="10705b4323551338" providerId="LiveId" clId="{9DFD7805-24BF-4A68-BB66-FC44D414A98A}" dt="2025-11-02T23:35:54.189" v="330" actId="14100"/>
          <ac:spMkLst>
            <pc:docMk/>
            <pc:sldMk cId="2257239353" sldId="430"/>
            <ac:spMk id="4" creationId="{3A98B716-D772-C5D0-8F2B-0FC170A121B3}"/>
          </ac:spMkLst>
        </pc:spChg>
        <pc:spChg chg="mod">
          <ac:chgData name="Martin Alvarez" userId="10705b4323551338" providerId="LiveId" clId="{9DFD7805-24BF-4A68-BB66-FC44D414A98A}" dt="2025-11-05T22:15:22.229" v="349" actId="123"/>
          <ac:spMkLst>
            <pc:docMk/>
            <pc:sldMk cId="2257239353" sldId="430"/>
            <ac:spMk id="7" creationId="{51866271-BB68-1526-2CE7-3384380E94B7}"/>
          </ac:spMkLst>
        </pc:spChg>
      </pc:sldChg>
      <pc:sldChg chg="addSp modSp mod">
        <pc:chgData name="Martin Alvarez" userId="10705b4323551338" providerId="LiveId" clId="{9DFD7805-24BF-4A68-BB66-FC44D414A98A}" dt="2025-11-02T23:36:57.237" v="344" actId="20577"/>
        <pc:sldMkLst>
          <pc:docMk/>
          <pc:sldMk cId="291770541" sldId="509"/>
        </pc:sldMkLst>
        <pc:spChg chg="mod">
          <ac:chgData name="Martin Alvarez" userId="10705b4323551338" providerId="LiveId" clId="{9DFD7805-24BF-4A68-BB66-FC44D414A98A}" dt="2025-11-02T23:36:57.237" v="344" actId="20577"/>
          <ac:spMkLst>
            <pc:docMk/>
            <pc:sldMk cId="291770541" sldId="509"/>
            <ac:spMk id="3" creationId="{5EFBAC98-1603-F9AA-6641-050699825C75}"/>
          </ac:spMkLst>
        </pc:spChg>
        <pc:spChg chg="add mod">
          <ac:chgData name="Martin Alvarez" userId="10705b4323551338" providerId="LiveId" clId="{9DFD7805-24BF-4A68-BB66-FC44D414A98A}" dt="2025-11-02T23:32:09.318" v="327" actId="255"/>
          <ac:spMkLst>
            <pc:docMk/>
            <pc:sldMk cId="291770541" sldId="509"/>
            <ac:spMk id="5" creationId="{87996BE8-25B4-523F-AA02-BF8D463CBC00}"/>
          </ac:spMkLst>
        </pc:spChg>
      </pc:sldChg>
      <pc:sldChg chg="modSp mod">
        <pc:chgData name="Martin Alvarez" userId="10705b4323551338" providerId="LiveId" clId="{9DFD7805-24BF-4A68-BB66-FC44D414A98A}" dt="2025-11-02T23:38:22.259" v="346" actId="123"/>
        <pc:sldMkLst>
          <pc:docMk/>
          <pc:sldMk cId="2359871389" sldId="510"/>
        </pc:sldMkLst>
        <pc:spChg chg="mod">
          <ac:chgData name="Martin Alvarez" userId="10705b4323551338" providerId="LiveId" clId="{9DFD7805-24BF-4A68-BB66-FC44D414A98A}" dt="2025-11-02T23:38:22.259" v="346" actId="123"/>
          <ac:spMkLst>
            <pc:docMk/>
            <pc:sldMk cId="2359871389" sldId="510"/>
            <ac:spMk id="3" creationId="{18B5CB80-2569-DB6C-6C50-FF38A2007868}"/>
          </ac:spMkLst>
        </pc:spChg>
      </pc:sldChg>
      <pc:sldChg chg="modSp mod">
        <pc:chgData name="Martin Alvarez" userId="10705b4323551338" providerId="LiveId" clId="{9DFD7805-24BF-4A68-BB66-FC44D414A98A}" dt="2025-11-02T23:38:03.757" v="345" actId="123"/>
        <pc:sldMkLst>
          <pc:docMk/>
          <pc:sldMk cId="3894861376" sldId="511"/>
        </pc:sldMkLst>
        <pc:spChg chg="mod">
          <ac:chgData name="Martin Alvarez" userId="10705b4323551338" providerId="LiveId" clId="{9DFD7805-24BF-4A68-BB66-FC44D414A98A}" dt="2025-11-02T23:38:03.757" v="345" actId="123"/>
          <ac:spMkLst>
            <pc:docMk/>
            <pc:sldMk cId="3894861376" sldId="511"/>
            <ac:spMk id="3" creationId="{059534CE-444D-81AC-A5D2-6055B5D2DD8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C64025-9F1C-B54C-874D-6AE83D7874AF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412AF-8B30-1C4A-9486-8B7EE1FDFB1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422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2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B98C-7E11-E20C-7CA1-01CA7BC60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FC3A6-7EF0-25DE-49FD-093DABEA4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BDF46-6163-6B81-C8F2-2AFCA65A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3EB80-F412-4264-877A-F519E86134B6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8C366-551D-FE97-2B1D-32127BF3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01B1D-ECC1-F92A-E5F2-CCE79365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8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CDC1-3848-0D97-B7AC-87941E6A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930B0-69E0-A392-06B3-B0B255B70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B745A-C184-9A02-3478-963C49CD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D59A3-20FD-4F57-BF6F-3BA27807FCD6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6306-932B-2678-8102-D5B1FF6A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FBCBB-A717-3F86-896B-2E915566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CE9D-254D-F34F-04CD-7171E08A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3A657-71FF-6D0F-FA99-85DC67E6E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D6D25-137F-9F92-60F0-FB0CA02E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898AC-FD9A-4750-9FD7-40423F078F72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48134-AEC4-52EE-619E-153EC79D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6E28-6B6A-F6F8-4722-E4543D31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8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31D6C-E496-E079-CBB1-0568125C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E5603-C8AA-9A92-329E-1802B5F59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50DDA-AA05-B9E0-6968-15C94DE92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06625-219C-99D2-3E54-1E8F41B2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D715A-4944-4C29-B77B-A34E4EBD5D1C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ABBC7-B012-FDE4-EA5B-0F69DA2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5FDEE-8F41-2CAA-8017-4038F3B8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5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A04D-9D5C-EB18-C5D0-F76A09B0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72525-56CB-7F89-4E11-9F3346C59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198E8-A9B1-48FB-F54D-A3A92D36D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1E517-63E9-95AE-DECC-CFC5865D1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2A0CC-FDD5-8EAE-60EC-D76CDDC97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A6C08-7F94-962B-4B6D-4E592F0E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CFED3-771D-4033-9854-1BCE9F349520}" type="datetime1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DBB8B-904B-340C-44C2-AEB8E734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7219B-396C-1FD3-E2D2-AE434727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6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71B7-64C8-5681-B050-6630E101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26AF0-FBD4-6543-A23B-33B8EC5C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A0130-DE1D-4A6F-857A-8C219800B683}" type="datetime1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316-ECA6-24C4-30E6-F285BB5B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1D056-F9AE-1692-E81E-AF758FCC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5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10710-3846-C9D7-2144-F947912C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8EC0-6D5A-4D19-A435-0941F570E284}" type="datetime1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AC6AD-5E2E-A761-7126-579D5026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490D8-22CE-08FF-C435-CF9436B2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159F-BCFE-0041-5B65-0F7FC249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DE978-B876-7F13-E812-15175B9B4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065CE-0860-1EFD-1CD1-8D84398DF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E4DE7-1714-6B66-42FD-77D069D7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02220-7A39-491A-AB5F-1E807CD87A70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CCE9F-F437-9F8B-15B0-8576AFF5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9748-1BAE-0CB1-1ED5-9FF402F0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0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5094-D299-E460-49A2-D005A07A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9A670-8C5F-885F-FB89-1940119E6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02C41-9999-BFD6-AEAD-EB346FCC3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5BE73-C51E-CB3B-FD3F-C461033F7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6D8C2-DA25-477C-9AE3-885A59B8917A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D6684-3CE0-4A83-95A6-6EBB0949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73D51-51CE-D827-C1EE-C87D922E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1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6847-10A3-1E86-2365-C19719B4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4D640-C06A-7E21-00D5-44964ADC6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FEB36-D0A3-DD5E-C201-B27A7169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EE02B-0F43-4052-B629-74101F7A2B1E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C4C8-11C3-310B-0494-5A9A39C6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3FB9E-F285-F7AE-0E8F-94E44391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3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591E1-25BE-1B7D-2747-B206B7690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C95D2-79AD-B457-5041-AF0BC72AD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D9B71-7EFC-DD71-1559-F745192F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AF33-61B0-4EF0-A0BC-F5D1F49ED75E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FD8D1-6C57-FE1E-C640-C760ABFF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79F31-ACBF-4495-3650-1BBE0598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1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E12EA-8A8E-06EC-6E57-8E5E96C5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40FE1-91A8-46C3-32E1-30AAA21A9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noProof="0"/>
              <a:t>Click to edit Master text styles</a:t>
            </a:r>
          </a:p>
          <a:p>
            <a:pPr lvl="1"/>
            <a:r>
              <a:rPr lang="es-ES_tradnl" noProof="0"/>
              <a:t>Second level</a:t>
            </a:r>
          </a:p>
          <a:p>
            <a:pPr lvl="2"/>
            <a:r>
              <a:rPr lang="es-ES_tradnl" noProof="0"/>
              <a:t>Third level</a:t>
            </a:r>
          </a:p>
          <a:p>
            <a:pPr lvl="3"/>
            <a:r>
              <a:rPr lang="es-ES_tradnl" noProof="0"/>
              <a:t>Fourth level</a:t>
            </a:r>
          </a:p>
          <a:p>
            <a:pPr lvl="4"/>
            <a:r>
              <a:rPr lang="es-ES_tradnl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69DB0-88CE-6331-AB80-0CB309875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67D64D48-C016-4A3B-B5A2-1F0B064B80AA}" type="datetime1">
              <a:rPr lang="en-US" noProof="0" smtClean="0"/>
              <a:t>11/5/2025</a:t>
            </a:fld>
            <a:endParaRPr lang="es-ES_tradnl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5CBFB-E83F-ED57-BB3C-53CCB6662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endParaRPr lang="es-ES_tradnl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DCCDE-D195-0527-335D-0AECD8803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78C1CC4-2077-434E-BCF1-5D01C08A9B17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0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Goudy Old Style" panose="020205020503050203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2C8F4-54CC-EED9-C31F-8F80FFB62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910"/>
            <a:ext cx="9144000" cy="2387600"/>
          </a:xfrm>
        </p:spPr>
        <p:txBody>
          <a:bodyPr>
            <a:normAutofit/>
          </a:bodyPr>
          <a:lstStyle/>
          <a:p>
            <a: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Proyecto Taller de Programación:</a:t>
            </a:r>
            <a:b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Grupo 2</a:t>
            </a:r>
            <a:endParaRPr lang="en-US" sz="149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55BDD-1493-5FB8-8EDB-106F9B362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9115"/>
            <a:ext cx="9144000" cy="1655762"/>
          </a:xfrm>
        </p:spPr>
        <p:txBody>
          <a:bodyPr>
            <a:noAutofit/>
          </a:bodyPr>
          <a:lstStyle/>
          <a:p>
            <a:r>
              <a:rPr lang="es-PE" sz="2000" dirty="0"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Ronny Sulca</a:t>
            </a:r>
          </a:p>
          <a:p>
            <a:r>
              <a:rPr lang="en-US" sz="2000" dirty="0"/>
              <a:t>Martín Álvarez</a:t>
            </a:r>
          </a:p>
          <a:p>
            <a:r>
              <a:rPr lang="en-US" sz="2000" dirty="0"/>
              <a:t>Franco Godino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ADCD9-CEB1-5D1E-D7AC-167899E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27F2D-CC52-462D-4A92-C7C4502C7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50" y="853123"/>
            <a:ext cx="1463040" cy="1463040"/>
          </a:xfrm>
          <a:prstGeom prst="rect">
            <a:avLst/>
          </a:prstGeom>
        </p:spPr>
      </p:pic>
      <p:pic>
        <p:nvPicPr>
          <p:cNvPr id="6" name="Picture 5" descr="A blue and yellow logo&#10;&#10;Description automatically generated">
            <a:extLst>
              <a:ext uri="{FF2B5EF4-FFF2-40B4-BE49-F238E27FC236}">
                <a16:creationId xmlns:a16="http://schemas.microsoft.com/office/drawing/2014/main" id="{939E0972-AB4F-C51D-7B38-9F10B613F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07" y="849631"/>
            <a:ext cx="1271793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331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F5168-5457-EEB9-2127-27DFCC8EE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4400"/>
              <a:t>Base y fuente </a:t>
            </a:r>
            <a:r>
              <a:rPr lang="es-ES_tradnl" sz="4400" dirty="0"/>
              <a:t>de información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8B716-D772-C5D0-8F2B-0FC170A12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1866271-BB68-1526-2CE7-3384380E9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s-ES_tradnl" sz="2400" b="1" dirty="0">
                <a:latin typeface="Gill Sans Nova Light" panose="020B0302020104020203" pitchFamily="34" charset="0"/>
              </a:rPr>
              <a:t>Base de datos: oferta de inmuebles en distintos países de América Latina y el mundo.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s-ES_tradnl" sz="2400" b="1" dirty="0">
                <a:latin typeface="Gill Sans Nova Light" panose="020B0302020104020203" pitchFamily="34" charset="0"/>
              </a:rPr>
              <a:t>Fuente: </a:t>
            </a:r>
            <a:r>
              <a:rPr lang="es-ES_tradnl" sz="2400" b="1" dirty="0" err="1">
                <a:latin typeface="Gill Sans Nova Light" panose="020B0302020104020203" pitchFamily="34" charset="0"/>
              </a:rPr>
              <a:t>Argenprop</a:t>
            </a:r>
            <a:r>
              <a:rPr lang="es-ES_tradnl" sz="2400" dirty="0">
                <a:latin typeface="Gill Sans Nova Light" panose="020B0302020104020203" pitchFamily="34" charset="0"/>
              </a:rPr>
              <a:t>, </a:t>
            </a:r>
            <a:r>
              <a:rPr lang="es-AR" sz="2400" dirty="0">
                <a:latin typeface="Gill Sans Nova Light" panose="020B0302020104020203" pitchFamily="34" charset="0"/>
              </a:rPr>
              <a:t>portal inmobiliario líder en Argentina que se especializa en la publicación y búsqueda de propiedades para venta y alquiler.</a:t>
            </a:r>
            <a:endParaRPr lang="es-ES_tradnl" sz="2400" dirty="0">
              <a:latin typeface="Gill Sans Nova Light" panose="020B0302020104020203" pitchFamily="34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s-ES_tradnl" sz="2400" dirty="0">
                <a:latin typeface="Gill Sans Nova Light" panose="020B0302020104020203" pitchFamily="34" charset="0"/>
              </a:rPr>
              <a:t>Nivel: la base presenta a cada inmueble ofertado como una observación individual.  Luego se identifica el inmueble por ubicación nacional, provincial y municipal.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s-ES_tradnl" sz="2400" dirty="0">
                <a:latin typeface="Gill Sans Nova Light" panose="020B0302020104020203" pitchFamily="34" charset="0"/>
              </a:rPr>
              <a:t>Periodicidad: mensual. Se actualiza el stock de oferta y se detalla la fecha de publicación de cada inmueble. Es decir, la base de septiembre puede tener observaciones con fecha de publicación en meses o años anteriores que no se concretaron y siguen disponibles.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es-ES_tradnl" sz="2400" dirty="0"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239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F3F28-805E-D003-D4CC-C2D8CBB8B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F4796-6520-51B4-50C4-899F20D47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4400" dirty="0"/>
              <a:t>Estructura de base de datos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E5D27-69B1-8120-AEA3-23B2EDE81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BAC98-1603-F9AA-6641-050699825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84120"/>
            <a:ext cx="10515600" cy="3557906"/>
          </a:xfrm>
        </p:spPr>
        <p:txBody>
          <a:bodyPr numCol="2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s-ES_tradnl" sz="2400" dirty="0">
                <a:latin typeface="Gill Sans Nova Light" panose="020B0302020104020203" pitchFamily="34" charset="0"/>
              </a:rPr>
              <a:t>país </a:t>
            </a:r>
          </a:p>
          <a:p>
            <a:pPr algn="just">
              <a:lnSpc>
                <a:spcPct val="120000"/>
              </a:lnSpc>
            </a:pPr>
            <a:r>
              <a:rPr lang="es-ES_tradnl" sz="2400" dirty="0">
                <a:latin typeface="Gill Sans Nova Light" panose="020B0302020104020203" pitchFamily="34" charset="0"/>
              </a:rPr>
              <a:t>provincia </a:t>
            </a:r>
          </a:p>
          <a:p>
            <a:pPr algn="just">
              <a:lnSpc>
                <a:spcPct val="120000"/>
              </a:lnSpc>
            </a:pPr>
            <a:r>
              <a:rPr lang="es-ES_tradnl" sz="2400" dirty="0">
                <a:latin typeface="Gill Sans Nova Light" panose="020B0302020104020203" pitchFamily="34" charset="0"/>
              </a:rPr>
              <a:t>localidad </a:t>
            </a:r>
          </a:p>
          <a:p>
            <a:pPr algn="just">
              <a:lnSpc>
                <a:spcPct val="120000"/>
              </a:lnSpc>
            </a:pPr>
            <a:r>
              <a:rPr lang="es-ES_tradnl" sz="2400" dirty="0">
                <a:latin typeface="Gill Sans Nova Light" panose="020B0302020104020203" pitchFamily="34" charset="0"/>
              </a:rPr>
              <a:t>barrio</a:t>
            </a:r>
          </a:p>
          <a:p>
            <a:pPr algn="just">
              <a:lnSpc>
                <a:spcPct val="120000"/>
              </a:lnSpc>
            </a:pPr>
            <a:r>
              <a:rPr lang="es-ES_tradnl" sz="2400" dirty="0">
                <a:latin typeface="Gill Sans Nova Light" panose="020B0302020104020203" pitchFamily="34" charset="0"/>
              </a:rPr>
              <a:t>tipo de propiedad</a:t>
            </a:r>
          </a:p>
          <a:p>
            <a:pPr algn="just">
              <a:lnSpc>
                <a:spcPct val="120000"/>
              </a:lnSpc>
            </a:pPr>
            <a:r>
              <a:rPr lang="es-ES_tradnl" sz="2400" dirty="0">
                <a:latin typeface="Gill Sans Nova Light" panose="020B0302020104020203" pitchFamily="34" charset="0"/>
              </a:rPr>
              <a:t>tipo de operación </a:t>
            </a:r>
          </a:p>
          <a:p>
            <a:pPr algn="just">
              <a:lnSpc>
                <a:spcPct val="120000"/>
              </a:lnSpc>
            </a:pPr>
            <a:endParaRPr lang="es-ES_tradnl" sz="2400" dirty="0">
              <a:latin typeface="Gill Sans Nova Light" panose="020B0302020104020203" pitchFamily="34" charset="0"/>
            </a:endParaRPr>
          </a:p>
          <a:p>
            <a:pPr algn="just">
              <a:lnSpc>
                <a:spcPct val="120000"/>
              </a:lnSpc>
            </a:pPr>
            <a:endParaRPr lang="es-ES_tradnl" sz="2400" dirty="0">
              <a:latin typeface="Gill Sans Nova Light" panose="020B0302020104020203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s-ES_tradnl" sz="2400" dirty="0">
                <a:latin typeface="Gill Sans Nova Light" panose="020B0302020104020203" pitchFamily="34" charset="0"/>
              </a:rPr>
              <a:t>latitud</a:t>
            </a:r>
          </a:p>
          <a:p>
            <a:pPr algn="just">
              <a:lnSpc>
                <a:spcPct val="120000"/>
              </a:lnSpc>
            </a:pPr>
            <a:r>
              <a:rPr lang="es-ES_tradnl" sz="2400" dirty="0">
                <a:latin typeface="Gill Sans Nova Light" panose="020B0302020104020203" pitchFamily="34" charset="0"/>
              </a:rPr>
              <a:t>longitud</a:t>
            </a:r>
          </a:p>
          <a:p>
            <a:pPr algn="just">
              <a:lnSpc>
                <a:spcPct val="120000"/>
              </a:lnSpc>
            </a:pPr>
            <a:r>
              <a:rPr lang="es-ES_tradnl" sz="2400" dirty="0">
                <a:latin typeface="Gill Sans Nova Light" panose="020B0302020104020203" pitchFamily="34" charset="0"/>
              </a:rPr>
              <a:t>nombre (moneda de operación) </a:t>
            </a:r>
          </a:p>
          <a:p>
            <a:pPr algn="just">
              <a:lnSpc>
                <a:spcPct val="120000"/>
              </a:lnSpc>
            </a:pPr>
            <a:r>
              <a:rPr lang="es-ES_tradnl" sz="2400" dirty="0">
                <a:latin typeface="Gill Sans Nova Light" panose="020B0302020104020203" pitchFamily="34" charset="0"/>
              </a:rPr>
              <a:t>superficie total (cubierta y descubierta)</a:t>
            </a:r>
          </a:p>
          <a:p>
            <a:pPr algn="just">
              <a:lnSpc>
                <a:spcPct val="120000"/>
              </a:lnSpc>
            </a:pPr>
            <a:r>
              <a:rPr lang="es-ES_tradnl" sz="2400" dirty="0">
                <a:latin typeface="Gill Sans Nova Light" panose="020B0302020104020203" pitchFamily="34" charset="0"/>
              </a:rPr>
              <a:t>cantidad de ambientes </a:t>
            </a:r>
          </a:p>
          <a:p>
            <a:pPr algn="just">
              <a:lnSpc>
                <a:spcPct val="120000"/>
              </a:lnSpc>
            </a:pPr>
            <a:r>
              <a:rPr lang="es-ES_tradnl" sz="2400" dirty="0">
                <a:latin typeface="Gill Sans Nova Light" panose="020B0302020104020203" pitchFamily="34" charset="0"/>
              </a:rPr>
              <a:t>antigüedad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es-ES_tradnl" sz="2400" dirty="0">
              <a:latin typeface="Gill Sans Nova Light" panose="020B0302020104020203" pitchFamily="34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endParaRPr lang="es-ES_tradnl" sz="2400" dirty="0">
              <a:latin typeface="Gill Sans Nova Light" panose="020B0302020104020203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7996BE8-25B4-523F-AA02-BF8D463CBC00}"/>
              </a:ext>
            </a:extLst>
          </p:cNvPr>
          <p:cNvSpPr txBox="1"/>
          <p:nvPr/>
        </p:nvSpPr>
        <p:spPr>
          <a:xfrm>
            <a:off x="838200" y="1432560"/>
            <a:ext cx="10515600" cy="951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s-ES_tradnl" sz="2400" dirty="0">
                <a:latin typeface="Gill Sans Nova Light" panose="020B0302020104020203" pitchFamily="34" charset="0"/>
              </a:rPr>
              <a:t>La base de datos cuenta con 26 variables. Entre las variables más importantes, destacan:</a:t>
            </a:r>
            <a:endParaRPr lang="es-AR" sz="2400" dirty="0"/>
          </a:p>
        </p:txBody>
      </p:sp>
    </p:spTree>
    <p:extLst>
      <p:ext uri="{BB962C8B-B14F-4D97-AF65-F5344CB8AC3E}">
        <p14:creationId xmlns:p14="http://schemas.microsoft.com/office/powerpoint/2010/main" val="291770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3C5EC-672D-A853-834F-200C7E3F3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6536A-4657-27D7-0E7F-AD85B86E4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4400" dirty="0"/>
              <a:t>Propuesta de análisis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599D9F-D431-BCB4-F7A5-A8F13FBD3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534CE-444D-81AC-A5D2-6055B5D2D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s-ES_tradnl" sz="2400" kern="100" dirty="0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 propone aplicar el método de </a:t>
            </a:r>
            <a:r>
              <a:rPr lang="es-ES_tradnl" sz="2400" kern="100" dirty="0" err="1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cluster</a:t>
            </a:r>
            <a:r>
              <a:rPr lang="es-ES_tradnl" sz="2400" kern="100" dirty="0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para datos geoespaciales los cuales podemos obtener mediante las variables Longitud y Latitud.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s-ES_tradnl" sz="2400" kern="100" dirty="0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Mediante este análisis se espera obtener la relación entre precios de los inmuebles y su ubicación así como su desagregado por las variables que tenemos en la base de datos.</a:t>
            </a:r>
          </a:p>
        </p:txBody>
      </p:sp>
    </p:spTree>
    <p:extLst>
      <p:ext uri="{BB962C8B-B14F-4D97-AF65-F5344CB8AC3E}">
        <p14:creationId xmlns:p14="http://schemas.microsoft.com/office/powerpoint/2010/main" val="3894861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33FBB-F286-5D55-E707-067F3A961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07E46-A356-FE4E-3BD9-5AF9C9C86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4400" dirty="0"/>
              <a:t>Procesamiento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768FF3-3923-D05B-94E2-B8CFFCFA3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5CB80-2569-DB6C-6C50-FF38A2007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s-ES_tradnl" sz="2400" kern="100" dirty="0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 primeros pasos para el procesamiento es identificar los </a:t>
            </a:r>
            <a:r>
              <a:rPr lang="es-ES_tradnl" sz="2400" kern="100" dirty="0" err="1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missing</a:t>
            </a:r>
            <a:r>
              <a:rPr lang="es-ES_tradnl" sz="2400" kern="100" dirty="0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_tradnl" sz="2400" kern="100" dirty="0" err="1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values</a:t>
            </a:r>
            <a:r>
              <a:rPr lang="es-ES_tradnl" sz="2400" kern="100" dirty="0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para las variables latitud y longitud.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s-ES_tradnl" sz="2400" kern="100" dirty="0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Adicionalmente, debemos revisar los </a:t>
            </a:r>
            <a:r>
              <a:rPr lang="es-ES_tradnl" sz="2400" kern="100" dirty="0" err="1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missing</a:t>
            </a:r>
            <a:r>
              <a:rPr lang="es-ES_tradnl" sz="2400" kern="100" dirty="0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para la variable de precio así como variables que representen características de los inmuebles.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s-ES_tradnl" sz="2400" kern="100" dirty="0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 primer control para la base es que la variable </a:t>
            </a:r>
            <a:r>
              <a:rPr lang="es-ES_tradnl" sz="2400" kern="100" dirty="0" err="1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PropiedadSuperficieTotal</a:t>
            </a:r>
            <a:r>
              <a:rPr lang="es-ES_tradnl" sz="2400" kern="100" dirty="0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debe ser siempre mayor que la </a:t>
            </a:r>
            <a:r>
              <a:rPr lang="es-ES_tradnl" sz="2400" kern="100" dirty="0" err="1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SuperficieCubierta</a:t>
            </a:r>
            <a:r>
              <a:rPr lang="es-ES_tradnl" sz="2400" kern="100" dirty="0">
                <a:latin typeface="Gill Sans Nova Light" panose="020B03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así como las variables relacionadas a la extensión del terreno.</a:t>
            </a:r>
          </a:p>
        </p:txBody>
      </p:sp>
    </p:spTree>
    <p:extLst>
      <p:ext uri="{BB962C8B-B14F-4D97-AF65-F5344CB8AC3E}">
        <p14:creationId xmlns:p14="http://schemas.microsoft.com/office/powerpoint/2010/main" val="2359871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4115</TotalTime>
  <Words>316</Words>
  <Application>Microsoft Office PowerPoint</Application>
  <PresentationFormat>Panorámica</PresentationFormat>
  <Paragraphs>38</Paragraphs>
  <Slides>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Arial</vt:lpstr>
      <vt:lpstr>Calibri</vt:lpstr>
      <vt:lpstr>Gill Sans Nova Light</vt:lpstr>
      <vt:lpstr>Goudy Old Style</vt:lpstr>
      <vt:lpstr>Times New Roman</vt:lpstr>
      <vt:lpstr>Office Theme</vt:lpstr>
      <vt:lpstr>Proyecto Taller de Programación: Grupo 2</vt:lpstr>
      <vt:lpstr>Base y fuente de información</vt:lpstr>
      <vt:lpstr>Estructura de base de datos</vt:lpstr>
      <vt:lpstr>Propuesta de análisis</vt:lpstr>
      <vt:lpstr>Procesamiento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data, Aprendizaje y Minería de Datos:  Perspectivas, ideas y herramientas para economistas</dc:title>
  <dc:creator>Romero, Maria Noelia</dc:creator>
  <cp:lastModifiedBy>Martin Alvarez</cp:lastModifiedBy>
  <cp:revision>462</cp:revision>
  <dcterms:created xsi:type="dcterms:W3CDTF">2023-06-12T20:51:31Z</dcterms:created>
  <dcterms:modified xsi:type="dcterms:W3CDTF">2025-11-05T22:17:03Z</dcterms:modified>
</cp:coreProperties>
</file>