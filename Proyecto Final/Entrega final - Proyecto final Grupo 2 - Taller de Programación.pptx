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8288000" cy="10287000"/>
  <p:notesSz cx="6858000" cy="9144000"/>
  <p:embeddedFontLst>
    <p:embeddedFont>
      <p:font typeface="Codec Pro" panose="020B0604020202020204" charset="0"/>
      <p:regular r:id="rId8"/>
    </p:embeddedFont>
    <p:embeddedFont>
      <p:font typeface="Oswald" panose="00000500000000000000" pitchFamily="2" charset="0"/>
      <p:regular r:id="rId9"/>
    </p:embeddedFont>
    <p:embeddedFont>
      <p:font typeface="Oswald Bold" panose="00000800000000000000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DEA35-303A-4C15-9AEB-34A5D0B75E4B}" v="2" dt="2025-12-02T23:24:58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Alvarez" userId="10705b4323551338" providerId="LiveId" clId="{132DEA35-303A-4C15-9AEB-34A5D0B75E4B}"/>
    <pc:docChg chg="undo custSel delSld modSld">
      <pc:chgData name="Martin Alvarez" userId="10705b4323551338" providerId="LiveId" clId="{132DEA35-303A-4C15-9AEB-34A5D0B75E4B}" dt="2025-12-02T23:21:20.067" v="13" actId="1076"/>
      <pc:docMkLst>
        <pc:docMk/>
      </pc:docMkLst>
      <pc:sldChg chg="modSp mod">
        <pc:chgData name="Martin Alvarez" userId="10705b4323551338" providerId="LiveId" clId="{132DEA35-303A-4C15-9AEB-34A5D0B75E4B}" dt="2025-12-02T23:21:20.067" v="13" actId="1076"/>
        <pc:sldMkLst>
          <pc:docMk/>
          <pc:sldMk cId="0" sldId="256"/>
        </pc:sldMkLst>
        <pc:grpChg chg="mod">
          <ac:chgData name="Martin Alvarez" userId="10705b4323551338" providerId="LiveId" clId="{132DEA35-303A-4C15-9AEB-34A5D0B75E4B}" dt="2025-12-02T23:21:20.067" v="13" actId="1076"/>
          <ac:grpSpMkLst>
            <pc:docMk/>
            <pc:sldMk cId="0" sldId="256"/>
            <ac:grpSpMk id="18" creationId="{00000000-0000-0000-0000-000000000000}"/>
          </ac:grpSpMkLst>
        </pc:grpChg>
      </pc:sldChg>
      <pc:sldChg chg="del">
        <pc:chgData name="Martin Alvarez" userId="10705b4323551338" providerId="LiveId" clId="{132DEA35-303A-4C15-9AEB-34A5D0B75E4B}" dt="2025-12-02T23:15:39.301" v="0" actId="47"/>
        <pc:sldMkLst>
          <pc:docMk/>
          <pc:sldMk cId="0" sldId="257"/>
        </pc:sldMkLst>
      </pc:sldChg>
      <pc:sldChg chg="modSp mod">
        <pc:chgData name="Martin Alvarez" userId="10705b4323551338" providerId="LiveId" clId="{132DEA35-303A-4C15-9AEB-34A5D0B75E4B}" dt="2025-12-02T23:20:46.920" v="11" actId="1076"/>
        <pc:sldMkLst>
          <pc:docMk/>
          <pc:sldMk cId="0" sldId="259"/>
        </pc:sldMkLst>
        <pc:spChg chg="mod">
          <ac:chgData name="Martin Alvarez" userId="10705b4323551338" providerId="LiveId" clId="{132DEA35-303A-4C15-9AEB-34A5D0B75E4B}" dt="2025-12-02T23:20:46.920" v="11" actId="1076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E6B78-C38B-4B5C-9A59-4F2CB90A0972}" type="datetimeFigureOut">
              <a:rPr lang="es-AR" smtClean="0"/>
              <a:t>2/12/2025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209A0-CD1A-4331-85B8-A8CF64E15EE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066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7CD1-653D-4C01-A70A-EBF02967BB0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56737-861B-4959-9C60-074AAC73B47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D4B1-8A13-4251-A41C-372CBDDB891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A917F-4E98-4D41-8796-1B2CF10B83E5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24CCE-5EF6-4015-9F67-6658875882EC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D5BB-E8D6-43D6-AA60-0B8C64A0FD9D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25CB-95E4-442F-A0D2-0AFD9D7B51BC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29532-E92F-4FB5-B3B8-2C218D994B91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AB1A-DAE0-424E-B439-31162A1F4D39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2DD9-77C6-4C51-913D-36C0A901D8E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6C94D-AE0F-4C46-9C46-222085FAE47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AAA80-E11B-44F0-B01B-889CA5A8CBB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5400000">
            <a:off x="2659204" y="-6225116"/>
            <a:ext cx="6274575" cy="12450233"/>
            <a:chOff x="0" y="0"/>
            <a:chExt cx="3165983" cy="6282055"/>
          </a:xfrm>
        </p:grpSpPr>
        <p:sp>
          <p:nvSpPr>
            <p:cNvPr id="3" name="Freeform 3"/>
            <p:cNvSpPr/>
            <p:nvPr/>
          </p:nvSpPr>
          <p:spPr>
            <a:xfrm>
              <a:off x="4318" y="4318"/>
              <a:ext cx="3157347" cy="6273419"/>
            </a:xfrm>
            <a:custGeom>
              <a:avLst/>
              <a:gdLst/>
              <a:ahLst/>
              <a:cxnLst/>
              <a:rect l="l" t="t" r="r" b="b"/>
              <a:pathLst>
                <a:path w="3157347" h="6273419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ADC7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3166110" cy="6282055"/>
            </a:xfrm>
            <a:custGeom>
              <a:avLst/>
              <a:gdLst/>
              <a:ahLst/>
              <a:cxnLst/>
              <a:rect l="l" t="t" r="r" b="b"/>
              <a:pathLst>
                <a:path w="3166110" h="6282055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132232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-5400000">
            <a:off x="9151444" y="4851745"/>
            <a:ext cx="6274575" cy="12450233"/>
            <a:chOff x="0" y="0"/>
            <a:chExt cx="3165983" cy="6282055"/>
          </a:xfrm>
        </p:grpSpPr>
        <p:sp>
          <p:nvSpPr>
            <p:cNvPr id="6" name="Freeform 6"/>
            <p:cNvSpPr/>
            <p:nvPr/>
          </p:nvSpPr>
          <p:spPr>
            <a:xfrm>
              <a:off x="4318" y="4318"/>
              <a:ext cx="3157347" cy="6273419"/>
            </a:xfrm>
            <a:custGeom>
              <a:avLst/>
              <a:gdLst/>
              <a:ahLst/>
              <a:cxnLst/>
              <a:rect l="l" t="t" r="r" b="b"/>
              <a:pathLst>
                <a:path w="3157347" h="6273419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E0E6E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166110" cy="6282055"/>
            </a:xfrm>
            <a:custGeom>
              <a:avLst/>
              <a:gdLst/>
              <a:ahLst/>
              <a:cxnLst/>
              <a:rect l="l" t="t" r="r" b="b"/>
              <a:pathLst>
                <a:path w="3166110" h="6282055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E0E6E9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14229" y="6428718"/>
            <a:ext cx="12630150" cy="1114425"/>
            <a:chOff x="0" y="0"/>
            <a:chExt cx="3326459" cy="293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26459" cy="293511"/>
            </a:xfrm>
            <a:custGeom>
              <a:avLst/>
              <a:gdLst/>
              <a:ahLst/>
              <a:cxnLst/>
              <a:rect l="l" t="t" r="r" b="b"/>
              <a:pathLst>
                <a:path w="3326459" h="293511">
                  <a:moveTo>
                    <a:pt x="3123259" y="0"/>
                  </a:moveTo>
                  <a:cubicBezTo>
                    <a:pt x="3235484" y="0"/>
                    <a:pt x="3326459" y="65705"/>
                    <a:pt x="3326459" y="146756"/>
                  </a:cubicBezTo>
                  <a:cubicBezTo>
                    <a:pt x="3326459" y="227806"/>
                    <a:pt x="3235484" y="293511"/>
                    <a:pt x="3123259" y="293511"/>
                  </a:cubicBezTo>
                  <a:lnTo>
                    <a:pt x="203200" y="293511"/>
                  </a:lnTo>
                  <a:cubicBezTo>
                    <a:pt x="90976" y="293511"/>
                    <a:pt x="0" y="227806"/>
                    <a:pt x="0" y="146756"/>
                  </a:cubicBezTo>
                  <a:cubicBezTo>
                    <a:pt x="0" y="6570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326459" cy="360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6993" y="3534408"/>
            <a:ext cx="13235916" cy="345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69"/>
              </a:lnSpc>
            </a:pPr>
            <a:r>
              <a:rPr lang="en-US" sz="7955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PROYECTO FINAL: CLUSTER DINAMICOS CON BASE INMOBILIARIA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645" y="7638711"/>
            <a:ext cx="13293265" cy="132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199" spc="10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MATERIA: TALLER DE PROGRAMACIÓN</a:t>
            </a:r>
          </a:p>
          <a:p>
            <a:pPr algn="l">
              <a:lnSpc>
                <a:spcPts val="2595"/>
              </a:lnSpc>
            </a:pPr>
            <a:r>
              <a:rPr lang="en-US" sz="2199" spc="10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ALUMNOS: RONNY SULCA Y MARTÍN ALVAREZ</a:t>
            </a:r>
          </a:p>
          <a:p>
            <a:pPr algn="l">
              <a:lnSpc>
                <a:spcPts val="2595"/>
              </a:lnSpc>
            </a:pPr>
            <a:r>
              <a:rPr lang="en-US" sz="2199" spc="10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PROFESORA: MARIA NOELIA ROMERO</a:t>
            </a:r>
          </a:p>
          <a:p>
            <a:pPr algn="l">
              <a:lnSpc>
                <a:spcPts val="2595"/>
              </a:lnSpc>
            </a:pPr>
            <a:endParaRPr lang="en-US" sz="2199" spc="103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-428625" y="3501989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s-AR"/>
          </a:p>
        </p:txBody>
      </p:sp>
      <p:sp>
        <p:nvSpPr>
          <p:cNvPr id="14" name="AutoShape 14"/>
          <p:cNvSpPr/>
          <p:nvPr/>
        </p:nvSpPr>
        <p:spPr>
          <a:xfrm>
            <a:off x="12471329" y="7739549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 rot="-5400000">
            <a:off x="9766900" y="5394670"/>
            <a:ext cx="6274575" cy="12450233"/>
            <a:chOff x="0" y="0"/>
            <a:chExt cx="3165983" cy="6282055"/>
          </a:xfrm>
        </p:grpSpPr>
        <p:sp>
          <p:nvSpPr>
            <p:cNvPr id="16" name="Freeform 16"/>
            <p:cNvSpPr/>
            <p:nvPr/>
          </p:nvSpPr>
          <p:spPr>
            <a:xfrm>
              <a:off x="4318" y="4318"/>
              <a:ext cx="3157347" cy="6273419"/>
            </a:xfrm>
            <a:custGeom>
              <a:avLst/>
              <a:gdLst/>
              <a:ahLst/>
              <a:cxnLst/>
              <a:rect l="l" t="t" r="r" b="b"/>
              <a:pathLst>
                <a:path w="3157347" h="6273419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9DB3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3166110" cy="6282055"/>
            </a:xfrm>
            <a:custGeom>
              <a:avLst/>
              <a:gdLst/>
              <a:ahLst/>
              <a:cxnLst/>
              <a:rect l="l" t="t" r="r" b="b"/>
              <a:pathLst>
                <a:path w="3166110" h="6282055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9DB3C1"/>
            </a:solidFill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5400000">
            <a:off x="2154379" y="-6870065"/>
            <a:ext cx="6274575" cy="12450233"/>
            <a:chOff x="0" y="0"/>
            <a:chExt cx="3165983" cy="6282055"/>
          </a:xfrm>
        </p:grpSpPr>
        <p:sp>
          <p:nvSpPr>
            <p:cNvPr id="19" name="Freeform 19"/>
            <p:cNvSpPr/>
            <p:nvPr/>
          </p:nvSpPr>
          <p:spPr>
            <a:xfrm>
              <a:off x="4318" y="4318"/>
              <a:ext cx="3157347" cy="6273419"/>
            </a:xfrm>
            <a:custGeom>
              <a:avLst/>
              <a:gdLst/>
              <a:ahLst/>
              <a:cxnLst/>
              <a:rect l="l" t="t" r="r" b="b"/>
              <a:pathLst>
                <a:path w="3157347" h="6273419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5B696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3166110" cy="6282055"/>
            </a:xfrm>
            <a:custGeom>
              <a:avLst/>
              <a:gdLst/>
              <a:ahLst/>
              <a:cxnLst/>
              <a:rect l="l" t="t" r="r" b="b"/>
              <a:pathLst>
                <a:path w="3166110" h="6282055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5B696F"/>
            </a:solidFill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5E2C91B6-2B7A-03A4-443C-CC0A9A68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79284"/>
            <a:chOff x="0" y="0"/>
            <a:chExt cx="4816593" cy="863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63680"/>
            </a:xfrm>
            <a:custGeom>
              <a:avLst/>
              <a:gdLst/>
              <a:ahLst/>
              <a:cxnLst/>
              <a:rect l="l" t="t" r="r" b="b"/>
              <a:pathLst>
                <a:path w="4816592" h="863680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2029" y="4293314"/>
            <a:ext cx="17310674" cy="434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667"/>
              </a:lnSpc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Aplicación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clustering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dinámico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datos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inmobiliarios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ZonaProp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(2016–2025).</a:t>
            </a:r>
          </a:p>
          <a:p>
            <a:pPr algn="just">
              <a:lnSpc>
                <a:spcPts val="3667"/>
              </a:lnSpc>
            </a:pP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16" lvl="1" indent="-302258" algn="just">
              <a:lnSpc>
                <a:spcPts val="3667"/>
              </a:lnSpc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Identificación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grupos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propiedades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características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similares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4322"/>
              </a:lnSpc>
            </a:pP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16" lvl="1" indent="-302258" algn="just">
              <a:lnSpc>
                <a:spcPts val="3667"/>
              </a:lnSpc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Análisis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la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evolución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temporal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precios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del m²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cada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cluster.</a:t>
            </a:r>
          </a:p>
          <a:p>
            <a:pPr algn="just">
              <a:lnSpc>
                <a:spcPts val="3667"/>
              </a:lnSpc>
            </a:pP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16" lvl="1" indent="-302258" algn="just">
              <a:lnSpc>
                <a:spcPts val="3667"/>
              </a:lnSpc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Evaluar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cómo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cambian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patrones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del mercado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frente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a shocks o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ciclos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4453"/>
              </a:lnSpc>
            </a:pP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16" lvl="1" indent="-302258" algn="just">
              <a:lnSpc>
                <a:spcPts val="3667"/>
              </a:lnSpc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Generar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información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útil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para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inversores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desarrolladores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análisis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urbano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PROPUESTA DE TRABAJO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59EAD6-FD8D-7FEE-4CB9-781FD029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79284"/>
            <a:chOff x="0" y="0"/>
            <a:chExt cx="4816593" cy="863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63680"/>
            </a:xfrm>
            <a:custGeom>
              <a:avLst/>
              <a:gdLst/>
              <a:ahLst/>
              <a:cxnLst/>
              <a:rect l="l" t="t" r="r" b="b"/>
              <a:pathLst>
                <a:path w="4816592" h="863680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85800" y="3679530"/>
            <a:ext cx="17310674" cy="665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Datos </a:t>
            </a:r>
            <a:r>
              <a:rPr lang="en-US" sz="2799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mensuales</a:t>
            </a:r>
            <a:r>
              <a:rPr lang="en-US" sz="2799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publicaciones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ZonaProp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último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día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hábil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cada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Período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analizado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2016–2025.</a:t>
            </a:r>
          </a:p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Observaciones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departamentos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casas, PH,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oficinas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etc.</a:t>
            </a:r>
          </a:p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Variables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principales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</a:t>
            </a:r>
          </a:p>
          <a:p>
            <a:pPr marL="1216658" lvl="2" indent="-457200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Precio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(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MontoOperacion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)</a:t>
            </a:r>
          </a:p>
          <a:p>
            <a:pPr marL="1216658" lvl="2" indent="-457200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Superficie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total /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cubierta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/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descubierta</a:t>
            </a: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1216658" lvl="2" indent="-457200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Ubicación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(Provincia,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Localidad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Barrio,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coordenadas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)</a:t>
            </a:r>
          </a:p>
          <a:p>
            <a:pPr marL="1216658" lvl="2" indent="-457200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Características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(ambientes,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dormitorios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cocheras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antigüedad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expensas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)</a:t>
            </a:r>
          </a:p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combinan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todas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las bases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un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único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panel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mensual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marL="604516" lvl="1" indent="-302258" algn="just">
              <a:lnSpc>
                <a:spcPts val="3667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Limpieza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tratamiento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outliers,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duplicados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diferencias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formato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799" u="none" spc="55" dirty="0" err="1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georreferencias</a:t>
            </a:r>
            <a:r>
              <a:rPr lang="en-US" sz="2799" u="none" spc="55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just">
              <a:lnSpc>
                <a:spcPts val="3667"/>
              </a:lnSpc>
            </a:pPr>
            <a:endParaRPr lang="en-US" sz="2799" u="none" spc="55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BASE DE DATOS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2855EC-9F0B-96AE-F2E1-1108DF8A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79284"/>
            <a:chOff x="0" y="0"/>
            <a:chExt cx="4816593" cy="863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63680"/>
            </a:xfrm>
            <a:custGeom>
              <a:avLst/>
              <a:gdLst/>
              <a:ahLst/>
              <a:cxnLst/>
              <a:rect l="l" t="t" r="r" b="b"/>
              <a:pathLst>
                <a:path w="4816592" h="863680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5499" y="3405274"/>
            <a:ext cx="17237002" cy="868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Los clústers dinámicos son una metodología que extiende el clustering tradicional (estático) hacia datos que cambian en el tiempo.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En lugar de agrupar las observaciones una sola vez, se realiza un clustering mes a mes, y luego se hace un seguimiento de cómo cada grupo evoluciona, se transforma o desaparece.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Permiten estudiar transiciones, estabilidad y cambios estructurales en los patrones del mercado.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Construcción de </a:t>
            </a: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un dataset unificado y estandarizado para todo el período.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Normalización de variables numéricas (precio/m², superficies, ambientes).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Definición de métricas temporales: evolución mensual y tasas de cambio.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Aplicación de K-Means, DBSCAN o Gaussian Mixtures mes a mes.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Implementación del algoritmo de clustering dinámico: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Seguimiento de clusters a través del tiempo.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Emparejamiento de clusters entre meses mediante distancia de centros.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Detección de creación, fusión o desaparición de clusters.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Evaluación mediante métricas: Silhouette Score temporal, estabilidad intermensual.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Visualizaciones dinámicas: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Evolución del precio del m² por cluster.</a:t>
            </a:r>
          </a:p>
          <a:p>
            <a:pPr marL="601943" lvl="1" indent="-300972" algn="just">
              <a:lnSpc>
                <a:spcPts val="3652"/>
              </a:lnSpc>
              <a:buFont typeface="Arial"/>
              <a:buChar char="•"/>
            </a:pPr>
            <a:r>
              <a:rPr lang="en-US" sz="2788" u="none" spc="5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Mapas de calor y geolocalización de clusters.</a:t>
            </a:r>
          </a:p>
          <a:p>
            <a:pPr algn="just">
              <a:lnSpc>
                <a:spcPts val="3652"/>
              </a:lnSpc>
            </a:pPr>
            <a:endParaRPr lang="en-US" sz="2788" u="none" spc="55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METODOLOGÍA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B2DD55-4652-F457-DA3D-48AA5426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79284"/>
            <a:chOff x="0" y="0"/>
            <a:chExt cx="4816593" cy="863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63680"/>
            </a:xfrm>
            <a:custGeom>
              <a:avLst/>
              <a:gdLst/>
              <a:ahLst/>
              <a:cxnLst/>
              <a:rect l="l" t="t" r="r" b="b"/>
              <a:pathLst>
                <a:path w="4816592" h="863680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87CF37-5F02-BC13-1158-BC1EDBFC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375</Words>
  <Application>Microsoft Office PowerPoint</Application>
  <PresentationFormat>Personalizado</PresentationFormat>
  <Paragraphs>47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Oswald</vt:lpstr>
      <vt:lpstr>Wingdings</vt:lpstr>
      <vt:lpstr>Oswald Bold</vt:lpstr>
      <vt:lpstr>Arial</vt:lpstr>
      <vt:lpstr>Calibri</vt:lpstr>
      <vt:lpstr>Aptos</vt:lpstr>
      <vt:lpstr>Codec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 - Programación</dc:title>
  <cp:lastModifiedBy>Martin Alvarez</cp:lastModifiedBy>
  <cp:revision>1</cp:revision>
  <dcterms:created xsi:type="dcterms:W3CDTF">2006-08-16T00:00:00Z</dcterms:created>
  <dcterms:modified xsi:type="dcterms:W3CDTF">2025-12-02T23:25:09Z</dcterms:modified>
  <dc:identifier>DAG6IyR2U0s</dc:identifier>
</cp:coreProperties>
</file>