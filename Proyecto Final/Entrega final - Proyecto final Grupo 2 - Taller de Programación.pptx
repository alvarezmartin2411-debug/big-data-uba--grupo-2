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Oswald Bold" charset="1" panose="00000800000000000000"/>
      <p:regular r:id="rId12"/>
    </p:embeddedFont>
    <p:embeddedFont>
      <p:font typeface="Codec Pro" charset="1" panose="00000500000000000000"/>
      <p:regular r:id="rId13"/>
    </p:embeddedFont>
    <p:embeddedFont>
      <p:font typeface="Oswald" charset="1" panose="0000050000000000000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322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5400000">
            <a:off x="2659204" y="-6225116"/>
            <a:ext cx="6274575" cy="12450233"/>
            <a:chOff x="0" y="0"/>
            <a:chExt cx="3165983" cy="62820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4318" y="4318"/>
              <a:ext cx="3157347" cy="6273419"/>
            </a:xfrm>
            <a:custGeom>
              <a:avLst/>
              <a:gdLst/>
              <a:ahLst/>
              <a:cxnLst/>
              <a:rect r="r" b="b" t="t" l="l"/>
              <a:pathLst>
                <a:path h="6273419" w="3157347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ADC7EA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166110" cy="6282055"/>
            </a:xfrm>
            <a:custGeom>
              <a:avLst/>
              <a:gdLst/>
              <a:ahLst/>
              <a:cxnLst/>
              <a:rect r="r" b="b" t="t" l="l"/>
              <a:pathLst>
                <a:path h="6282055" w="3166110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132232"/>
            </a:solidFill>
          </p:spPr>
        </p:sp>
      </p:grpSp>
      <p:grpSp>
        <p:nvGrpSpPr>
          <p:cNvPr name="Group 5" id="5"/>
          <p:cNvGrpSpPr>
            <a:grpSpLocks noChangeAspect="true"/>
          </p:cNvGrpSpPr>
          <p:nvPr/>
        </p:nvGrpSpPr>
        <p:grpSpPr>
          <a:xfrm rot="-5400000">
            <a:off x="9151444" y="4851745"/>
            <a:ext cx="6274575" cy="12450233"/>
            <a:chOff x="0" y="0"/>
            <a:chExt cx="3165983" cy="628205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318" y="4318"/>
              <a:ext cx="3157347" cy="6273419"/>
            </a:xfrm>
            <a:custGeom>
              <a:avLst/>
              <a:gdLst/>
              <a:ahLst/>
              <a:cxnLst/>
              <a:rect r="r" b="b" t="t" l="l"/>
              <a:pathLst>
                <a:path h="6273419" w="3157347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E0E6E9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66110" cy="6282055"/>
            </a:xfrm>
            <a:custGeom>
              <a:avLst/>
              <a:gdLst/>
              <a:ahLst/>
              <a:cxnLst/>
              <a:rect r="r" b="b" t="t" l="l"/>
              <a:pathLst>
                <a:path h="6282055" w="3166110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E0E6E9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814229" y="6428718"/>
            <a:ext cx="12630150" cy="1114425"/>
            <a:chOff x="0" y="0"/>
            <a:chExt cx="3326459" cy="29351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326459" cy="293511"/>
            </a:xfrm>
            <a:custGeom>
              <a:avLst/>
              <a:gdLst/>
              <a:ahLst/>
              <a:cxnLst/>
              <a:rect r="r" b="b" t="t" l="l"/>
              <a:pathLst>
                <a:path h="293511" w="3326459">
                  <a:moveTo>
                    <a:pt x="3123259" y="0"/>
                  </a:moveTo>
                  <a:cubicBezTo>
                    <a:pt x="3235484" y="0"/>
                    <a:pt x="3326459" y="65705"/>
                    <a:pt x="3326459" y="146756"/>
                  </a:cubicBezTo>
                  <a:cubicBezTo>
                    <a:pt x="3326459" y="227806"/>
                    <a:pt x="3235484" y="293511"/>
                    <a:pt x="3123259" y="293511"/>
                  </a:cubicBezTo>
                  <a:lnTo>
                    <a:pt x="203200" y="293511"/>
                  </a:lnTo>
                  <a:cubicBezTo>
                    <a:pt x="90976" y="293511"/>
                    <a:pt x="0" y="227806"/>
                    <a:pt x="0" y="146756"/>
                  </a:cubicBezTo>
                  <a:cubicBezTo>
                    <a:pt x="0" y="6570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3326459" cy="3601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24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536993" y="3534408"/>
            <a:ext cx="13235916" cy="3451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9069"/>
              </a:lnSpc>
            </a:pPr>
            <a:r>
              <a:rPr lang="en-US" b="true" sz="7955">
                <a:solidFill>
                  <a:srgbClr val="FFFFFF"/>
                </a:solidFill>
                <a:latin typeface="Oswald Bold"/>
                <a:ea typeface="Oswald Bold"/>
                <a:cs typeface="Oswald Bold"/>
                <a:sym typeface="Oswald Bold"/>
              </a:rPr>
              <a:t>PROYECTO FINAL: DTW Y CLUSTER DINAMICOS CON BASE INMOBILIARIA. 2019-2025.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79645" y="7638711"/>
            <a:ext cx="13293265" cy="1329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5"/>
              </a:lnSpc>
            </a:pPr>
            <a:r>
              <a:rPr lang="en-US" sz="2199" spc="103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MATERIA: TALLER DE PROGRAMACIÓN</a:t>
            </a:r>
          </a:p>
          <a:p>
            <a:pPr algn="l">
              <a:lnSpc>
                <a:spcPts val="2595"/>
              </a:lnSpc>
            </a:pPr>
            <a:r>
              <a:rPr lang="en-US" sz="2199" spc="103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ALUMNOS: RONNY SULCA Y MARTÍN ALVAREZ</a:t>
            </a:r>
          </a:p>
          <a:p>
            <a:pPr algn="l">
              <a:lnSpc>
                <a:spcPts val="2595"/>
              </a:lnSpc>
            </a:pPr>
            <a:r>
              <a:rPr lang="en-US" sz="2199" spc="103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PROFESORA: MARIA NOELIA ROMERO</a:t>
            </a:r>
          </a:p>
          <a:p>
            <a:pPr algn="l">
              <a:lnSpc>
                <a:spcPts val="2595"/>
              </a:lnSpc>
            </a:pPr>
          </a:p>
        </p:txBody>
      </p:sp>
      <p:sp>
        <p:nvSpPr>
          <p:cNvPr name="AutoShape 13" id="13"/>
          <p:cNvSpPr/>
          <p:nvPr/>
        </p:nvSpPr>
        <p:spPr>
          <a:xfrm>
            <a:off x="-428625" y="3501989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oval" len="lg" w="lg"/>
          </a:ln>
        </p:spPr>
      </p:sp>
      <p:sp>
        <p:nvSpPr>
          <p:cNvPr name="AutoShape 14" id="14"/>
          <p:cNvSpPr/>
          <p:nvPr/>
        </p:nvSpPr>
        <p:spPr>
          <a:xfrm>
            <a:off x="12471329" y="7739549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oval" len="lg" w="lg"/>
            <a:tailEnd type="none" len="sm" w="sm"/>
          </a:ln>
        </p:spPr>
      </p:sp>
      <p:grpSp>
        <p:nvGrpSpPr>
          <p:cNvPr name="Group 15" id="15"/>
          <p:cNvGrpSpPr>
            <a:grpSpLocks noChangeAspect="true"/>
          </p:cNvGrpSpPr>
          <p:nvPr/>
        </p:nvGrpSpPr>
        <p:grpSpPr>
          <a:xfrm rot="-5400000">
            <a:off x="9766900" y="5394670"/>
            <a:ext cx="6274575" cy="12450233"/>
            <a:chOff x="0" y="0"/>
            <a:chExt cx="3165983" cy="628205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4318" y="4318"/>
              <a:ext cx="3157347" cy="6273419"/>
            </a:xfrm>
            <a:custGeom>
              <a:avLst/>
              <a:gdLst/>
              <a:ahLst/>
              <a:cxnLst/>
              <a:rect r="r" b="b" t="t" l="l"/>
              <a:pathLst>
                <a:path h="6273419" w="3157347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9DB3C1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166110" cy="6282055"/>
            </a:xfrm>
            <a:custGeom>
              <a:avLst/>
              <a:gdLst/>
              <a:ahLst/>
              <a:cxnLst/>
              <a:rect r="r" b="b" t="t" l="l"/>
              <a:pathLst>
                <a:path h="6282055" w="3166110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9DB3C1"/>
            </a:solidFill>
          </p:spPr>
        </p:sp>
      </p:grpSp>
      <p:grpSp>
        <p:nvGrpSpPr>
          <p:cNvPr name="Group 18" id="18"/>
          <p:cNvGrpSpPr>
            <a:grpSpLocks noChangeAspect="true"/>
          </p:cNvGrpSpPr>
          <p:nvPr/>
        </p:nvGrpSpPr>
        <p:grpSpPr>
          <a:xfrm rot="5400000">
            <a:off x="2154379" y="-6870065"/>
            <a:ext cx="6274575" cy="12450233"/>
            <a:chOff x="0" y="0"/>
            <a:chExt cx="3165983" cy="628205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4318" y="4318"/>
              <a:ext cx="3157347" cy="6273419"/>
            </a:xfrm>
            <a:custGeom>
              <a:avLst/>
              <a:gdLst/>
              <a:ahLst/>
              <a:cxnLst/>
              <a:rect r="r" b="b" t="t" l="l"/>
              <a:pathLst>
                <a:path h="6273419" w="3157347">
                  <a:moveTo>
                    <a:pt x="3049651" y="6273419"/>
                  </a:moveTo>
                  <a:lnTo>
                    <a:pt x="107696" y="6273419"/>
                  </a:lnTo>
                  <a:cubicBezTo>
                    <a:pt x="48260" y="6273419"/>
                    <a:pt x="0" y="6225286"/>
                    <a:pt x="0" y="6165723"/>
                  </a:cubicBezTo>
                  <a:lnTo>
                    <a:pt x="0" y="1578737"/>
                  </a:lnTo>
                  <a:cubicBezTo>
                    <a:pt x="0" y="706882"/>
                    <a:pt x="706882" y="0"/>
                    <a:pt x="1578737" y="0"/>
                  </a:cubicBezTo>
                  <a:lnTo>
                    <a:pt x="1578737" y="0"/>
                  </a:lnTo>
                  <a:cubicBezTo>
                    <a:pt x="2450592" y="0"/>
                    <a:pt x="3157347" y="706755"/>
                    <a:pt x="3157347" y="1578610"/>
                  </a:cubicBezTo>
                  <a:lnTo>
                    <a:pt x="3157347" y="6165723"/>
                  </a:lnTo>
                  <a:cubicBezTo>
                    <a:pt x="3157347" y="6225286"/>
                    <a:pt x="3109087" y="6273419"/>
                    <a:pt x="3049651" y="6273419"/>
                  </a:cubicBezTo>
                  <a:close/>
                </a:path>
              </a:pathLst>
            </a:custGeom>
            <a:solidFill>
              <a:srgbClr val="5B696F"/>
            </a:solidFill>
            <a:ln w="12700">
              <a:solidFill>
                <a:srgbClr val="000000"/>
              </a:solidFill>
            </a:ln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66110" cy="6282055"/>
            </a:xfrm>
            <a:custGeom>
              <a:avLst/>
              <a:gdLst/>
              <a:ahLst/>
              <a:cxnLst/>
              <a:rect r="r" b="b" t="t" l="l"/>
              <a:pathLst>
                <a:path h="6282055" w="3166110">
                  <a:moveTo>
                    <a:pt x="3053969" y="6282055"/>
                  </a:moveTo>
                  <a:lnTo>
                    <a:pt x="112014" y="6282055"/>
                  </a:lnTo>
                  <a:cubicBezTo>
                    <a:pt x="50292" y="6282055"/>
                    <a:pt x="0" y="6231763"/>
                    <a:pt x="0" y="6170041"/>
                  </a:cubicBezTo>
                  <a:lnTo>
                    <a:pt x="0" y="1583055"/>
                  </a:lnTo>
                  <a:cubicBezTo>
                    <a:pt x="0" y="1369314"/>
                    <a:pt x="41910" y="1162050"/>
                    <a:pt x="124460" y="966851"/>
                  </a:cubicBezTo>
                  <a:cubicBezTo>
                    <a:pt x="204216" y="778383"/>
                    <a:pt x="318389" y="609092"/>
                    <a:pt x="463677" y="463677"/>
                  </a:cubicBezTo>
                  <a:cubicBezTo>
                    <a:pt x="608965" y="318262"/>
                    <a:pt x="778256" y="204089"/>
                    <a:pt x="966851" y="124460"/>
                  </a:cubicBezTo>
                  <a:cubicBezTo>
                    <a:pt x="1161923" y="41910"/>
                    <a:pt x="1369314" y="0"/>
                    <a:pt x="1583055" y="0"/>
                  </a:cubicBezTo>
                  <a:cubicBezTo>
                    <a:pt x="1796796" y="0"/>
                    <a:pt x="2004060" y="41910"/>
                    <a:pt x="2199259" y="124460"/>
                  </a:cubicBezTo>
                  <a:cubicBezTo>
                    <a:pt x="2387727" y="204216"/>
                    <a:pt x="2557018" y="318389"/>
                    <a:pt x="2702433" y="463677"/>
                  </a:cubicBezTo>
                  <a:cubicBezTo>
                    <a:pt x="2847848" y="609092"/>
                    <a:pt x="2961894" y="778383"/>
                    <a:pt x="3041650" y="966851"/>
                  </a:cubicBezTo>
                  <a:cubicBezTo>
                    <a:pt x="3124200" y="1162050"/>
                    <a:pt x="3166110" y="1369314"/>
                    <a:pt x="3166110" y="1583055"/>
                  </a:cubicBezTo>
                  <a:lnTo>
                    <a:pt x="3166110" y="6170168"/>
                  </a:lnTo>
                  <a:cubicBezTo>
                    <a:pt x="3165983" y="6231890"/>
                    <a:pt x="3115818" y="6282055"/>
                    <a:pt x="3053969" y="6282055"/>
                  </a:cubicBezTo>
                  <a:close/>
                  <a:moveTo>
                    <a:pt x="1583055" y="8763"/>
                  </a:moveTo>
                  <a:cubicBezTo>
                    <a:pt x="1370584" y="8763"/>
                    <a:pt x="1164336" y="50419"/>
                    <a:pt x="970280" y="132461"/>
                  </a:cubicBezTo>
                  <a:cubicBezTo>
                    <a:pt x="782828" y="211709"/>
                    <a:pt x="614426" y="325247"/>
                    <a:pt x="469900" y="469900"/>
                  </a:cubicBezTo>
                  <a:cubicBezTo>
                    <a:pt x="325374" y="614553"/>
                    <a:pt x="211709" y="782701"/>
                    <a:pt x="132461" y="970280"/>
                  </a:cubicBezTo>
                  <a:cubicBezTo>
                    <a:pt x="50419" y="1164336"/>
                    <a:pt x="8763" y="1370584"/>
                    <a:pt x="8763" y="1583055"/>
                  </a:cubicBezTo>
                  <a:lnTo>
                    <a:pt x="8763" y="6170168"/>
                  </a:lnTo>
                  <a:cubicBezTo>
                    <a:pt x="8763" y="6227064"/>
                    <a:pt x="55118" y="6273419"/>
                    <a:pt x="112014" y="6273419"/>
                  </a:cubicBezTo>
                  <a:lnTo>
                    <a:pt x="3053969" y="6273419"/>
                  </a:lnTo>
                  <a:cubicBezTo>
                    <a:pt x="3110865" y="6273419"/>
                    <a:pt x="3157220" y="6227064"/>
                    <a:pt x="3157220" y="6170168"/>
                  </a:cubicBezTo>
                  <a:lnTo>
                    <a:pt x="3157220" y="1583055"/>
                  </a:lnTo>
                  <a:cubicBezTo>
                    <a:pt x="3157220" y="1370584"/>
                    <a:pt x="3115564" y="1164336"/>
                    <a:pt x="3033522" y="970280"/>
                  </a:cubicBezTo>
                  <a:cubicBezTo>
                    <a:pt x="2954274" y="782828"/>
                    <a:pt x="2840736" y="614426"/>
                    <a:pt x="2696083" y="469900"/>
                  </a:cubicBezTo>
                  <a:cubicBezTo>
                    <a:pt x="2551557" y="325374"/>
                    <a:pt x="2383155" y="211836"/>
                    <a:pt x="2195703" y="132461"/>
                  </a:cubicBezTo>
                  <a:cubicBezTo>
                    <a:pt x="2001647" y="50292"/>
                    <a:pt x="1795526" y="8763"/>
                    <a:pt x="1583055" y="8763"/>
                  </a:cubicBezTo>
                  <a:close/>
                </a:path>
              </a:pathLst>
            </a:custGeom>
            <a:solidFill>
              <a:srgbClr val="5B696F"/>
            </a:solid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279284"/>
            <a:chOff x="0" y="0"/>
            <a:chExt cx="4816593" cy="863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63680"/>
            </a:xfrm>
            <a:custGeom>
              <a:avLst/>
              <a:gdLst/>
              <a:ahLst/>
              <a:cxnLst/>
              <a:rect r="r" b="b" t="t" l="l"/>
              <a:pathLst>
                <a:path h="86368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24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732029" y="4293314"/>
            <a:ext cx="16527271" cy="4799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6" indent="-302258" lvl="1">
              <a:lnSpc>
                <a:spcPts val="366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Aplicación de Dynamic Time Warping (DTW) y clustering dinámico a datos inmobiliarios de ZonaProp (2016–2025).</a:t>
            </a:r>
          </a:p>
          <a:p>
            <a:pPr algn="just">
              <a:lnSpc>
                <a:spcPts val="3667"/>
              </a:lnSpc>
            </a:pPr>
          </a:p>
          <a:p>
            <a:pPr algn="just" marL="604516" indent="-302258" lvl="1">
              <a:lnSpc>
                <a:spcPts val="366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Identificación de grupos de propiedades con características similares.</a:t>
            </a:r>
          </a:p>
          <a:p>
            <a:pPr algn="just">
              <a:lnSpc>
                <a:spcPts val="4322"/>
              </a:lnSpc>
            </a:pPr>
          </a:p>
          <a:p>
            <a:pPr algn="just" marL="604516" indent="-302258" lvl="1">
              <a:lnSpc>
                <a:spcPts val="366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Análisis de la evolución temporal de los precios del m² en cada cluster.</a:t>
            </a:r>
          </a:p>
          <a:p>
            <a:pPr algn="just">
              <a:lnSpc>
                <a:spcPts val="3667"/>
              </a:lnSpc>
            </a:pPr>
          </a:p>
          <a:p>
            <a:pPr algn="just" marL="604516" indent="-302258" lvl="1">
              <a:lnSpc>
                <a:spcPts val="366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Evaluar cómo cambian los patrones del mercado frente a shocks o ciclos.</a:t>
            </a:r>
          </a:p>
          <a:p>
            <a:pPr algn="just">
              <a:lnSpc>
                <a:spcPts val="4453"/>
              </a:lnSpc>
            </a:pPr>
          </a:p>
          <a:p>
            <a:pPr algn="just" marL="604516" indent="-302258" lvl="1">
              <a:lnSpc>
                <a:spcPts val="366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Generar información útil para inversores, desarrolladores y análisis urbano.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66763"/>
            <a:ext cx="13103867" cy="117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PROPUESTA DE TRABAJO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279284"/>
            <a:chOff x="0" y="0"/>
            <a:chExt cx="4816593" cy="863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63680"/>
            </a:xfrm>
            <a:custGeom>
              <a:avLst/>
              <a:gdLst/>
              <a:ahLst/>
              <a:cxnLst/>
              <a:rect r="r" b="b" t="t" l="l"/>
              <a:pathLst>
                <a:path h="86368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24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77326" y="3512264"/>
            <a:ext cx="17310674" cy="7121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Datos mensuales de </a:t>
            </a: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publicaciones de ZonaProp, último día hábil de cada mes.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Período analizado: 2016–2025.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Observaciones: departamentos, casas, PH, oficinas, etc.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Variables principales: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Precio (MontoOperacion)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Superf</a:t>
            </a: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icie total / cubierta / descubierta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Ubicación (Provincia, Localidad, Barrio, coordenadas)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Características (ambientes, dormitorios, cocheras, antigüedad, expensas)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Se combinan todas las bases en un único panel mensual.</a:t>
            </a:r>
          </a:p>
          <a:p>
            <a:pPr algn="just" marL="604516" indent="-302258" lvl="1">
              <a:lnSpc>
                <a:spcPts val="5207"/>
              </a:lnSpc>
              <a:buFont typeface="Arial"/>
              <a:buChar char="•"/>
            </a:pPr>
            <a:r>
              <a:rPr lang="en-US" sz="2799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Limpieza: tratamiento de outliers, duplicados, diferencias de formato y georreferencias.</a:t>
            </a:r>
          </a:p>
          <a:p>
            <a:pPr algn="just">
              <a:lnSpc>
                <a:spcPts val="3667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66763"/>
            <a:ext cx="13103867" cy="117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BASE DE DATOS - INMOBILIARIA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279284"/>
            <a:chOff x="0" y="0"/>
            <a:chExt cx="4816593" cy="863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63680"/>
            </a:xfrm>
            <a:custGeom>
              <a:avLst/>
              <a:gdLst/>
              <a:ahLst/>
              <a:cxnLst/>
              <a:rect r="r" b="b" t="t" l="l"/>
              <a:pathLst>
                <a:path h="86368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24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5499" y="3224299"/>
            <a:ext cx="17237002" cy="77272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Método para comparar series temporales incluso si están desfasadas en el tiempo.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Alinea dinámicamente dos series para medir similitud en forma, no en el calendario exacto.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Permite comparar trayectorias de precios aunque los cambios ocurran en meses distintos.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Es ideal para clustering dinámico, porque agrupa barrios según la evolución del m², no su nivel.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Captura patrones como: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Subas o bajas similares, aunque ocurran en momentos distintos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Ciclos y shocks temporales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Superior a la distancia Euclidiana para series de diferente velocidad o timing.</a:t>
            </a:r>
          </a:p>
          <a:p>
            <a:pPr algn="just" marL="601943" indent="-300972" lvl="1">
              <a:lnSpc>
                <a:spcPts val="5576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Base metodológica del algoritmo usado: TimeSeriesKMeans (DTW).</a:t>
            </a:r>
          </a:p>
          <a:p>
            <a:pPr algn="just">
              <a:lnSpc>
                <a:spcPts val="5576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66763"/>
            <a:ext cx="13103867" cy="117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METODOLOGÍA - DTW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279284"/>
            <a:chOff x="0" y="0"/>
            <a:chExt cx="4816593" cy="863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63680"/>
            </a:xfrm>
            <a:custGeom>
              <a:avLst/>
              <a:gdLst/>
              <a:ahLst/>
              <a:cxnLst/>
              <a:rect r="r" b="b" t="t" l="l"/>
              <a:pathLst>
                <a:path h="86368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24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525499" y="3405274"/>
            <a:ext cx="17237002" cy="8687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Los clústers dinámicos son una metodología que extiende el clustering tradicional (estático) hacia datos que cambian en el tiempo.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En lugar de agrupar las observaciones una sola vez, se realiza un clustering mes a mes, y luego se hace un seguimiento de cómo cada grupo evoluciona, se transforma o desaparece.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 Permiten estudiar transiciones, estabilidad y cambios estructurales en los patrones del mercado.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Construcción de </a:t>
            </a: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un dataset unificado y estandarizado para todo el período.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Normalización de variables numéricas (precio/m², superficies, ambientes).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Definición de métricas temporales: evolución mensual y tasas de cambio.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A</a:t>
            </a: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pl</a:t>
            </a: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icación de K-Means, DBSCAN o Gaussian Mixtures mes a mes.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Implementación del algoritmo de clustering dinámico: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Seguimiento de clusters a través del tiempo.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Emparejamiento de clusters entre meses mediante distancia de centros.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Detección de creación, fusión o desaparición de clusters.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Evaluación mediante métricas: Silhouette Score temporal, estabilidad intermensual.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Visualizaciones dinámicas: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Evolución del precio del m² por cluster.</a:t>
            </a:r>
          </a:p>
          <a:p>
            <a:pPr algn="just" marL="601943" indent="-300972" lvl="1">
              <a:lnSpc>
                <a:spcPts val="3652"/>
              </a:lnSpc>
              <a:buFont typeface="Arial"/>
              <a:buChar char="•"/>
            </a:pPr>
            <a:r>
              <a:rPr lang="en-US" sz="2788" spc="55" u="none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Mapas de calor y geolocalización de clusters.</a:t>
            </a:r>
          </a:p>
          <a:p>
            <a:pPr algn="just">
              <a:lnSpc>
                <a:spcPts val="3652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066763"/>
            <a:ext cx="13103867" cy="117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METODOLOGÍA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279284"/>
            <a:chOff x="0" y="0"/>
            <a:chExt cx="4816593" cy="8636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863680"/>
            </a:xfrm>
            <a:custGeom>
              <a:avLst/>
              <a:gdLst/>
              <a:ahLst/>
              <a:cxnLst/>
              <a:rect r="r" b="b" t="t" l="l"/>
              <a:pathLst>
                <a:path h="863680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863680"/>
                  </a:lnTo>
                  <a:lnTo>
                    <a:pt x="0" y="863680"/>
                  </a:lnTo>
                  <a:close/>
                </a:path>
              </a:pathLst>
            </a:custGeom>
            <a:solidFill>
              <a:srgbClr val="13223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4816593" cy="9303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24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1066763"/>
            <a:ext cx="13103867" cy="1174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200"/>
              </a:lnSpc>
            </a:pPr>
            <a:r>
              <a:rPr lang="en-US" sz="800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RESULTADOS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DAG6IyR2U0s</dc:identifier>
  <dcterms:modified xsi:type="dcterms:W3CDTF">2011-08-01T06:04:30Z</dcterms:modified>
  <cp:revision>1</cp:revision>
  <dc:title>Proyecto final - Programación</dc:title>
</cp:coreProperties>
</file>