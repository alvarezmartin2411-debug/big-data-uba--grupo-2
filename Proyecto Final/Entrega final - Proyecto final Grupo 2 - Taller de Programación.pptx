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Codec Pro" panose="020B0604020202020204" charset="0"/>
      <p:regular r:id="rId8"/>
    </p:embeddedFont>
    <p:embeddedFont>
      <p:font typeface="Oswald" panose="020F0502020204030204" pitchFamily="2" charset="0"/>
      <p:regular r:id="rId9"/>
    </p:embeddedFont>
    <p:embeddedFont>
      <p:font typeface="Oswald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27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 rot="5400000">
            <a:off x="2659204" y="-6225116"/>
            <a:ext cx="6274575" cy="12450233"/>
            <a:chOff x="0" y="0"/>
            <a:chExt cx="3165983" cy="6282055"/>
          </a:xfrm>
        </p:grpSpPr>
        <p:sp>
          <p:nvSpPr>
            <p:cNvPr id="3" name="Freeform 3"/>
            <p:cNvSpPr/>
            <p:nvPr/>
          </p:nvSpPr>
          <p:spPr>
            <a:xfrm>
              <a:off x="4318" y="4318"/>
              <a:ext cx="3157347" cy="6273419"/>
            </a:xfrm>
            <a:custGeom>
              <a:avLst/>
              <a:gdLst/>
              <a:ahLst/>
              <a:cxnLst/>
              <a:rect l="l" t="t" r="r" b="b"/>
              <a:pathLst>
                <a:path w="3157347" h="6273419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ADC7EA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3166110" cy="6282055"/>
            </a:xfrm>
            <a:custGeom>
              <a:avLst/>
              <a:gdLst/>
              <a:ahLst/>
              <a:cxnLst/>
              <a:rect l="l" t="t" r="r" b="b"/>
              <a:pathLst>
                <a:path w="3166110" h="6282055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132232"/>
            </a:solidFill>
          </p:spPr>
          <p:txBody>
            <a:bodyPr/>
            <a:lstStyle/>
            <a:p>
              <a:endParaRPr lang="es-AR"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 rot="-5400000">
            <a:off x="9151444" y="4851745"/>
            <a:ext cx="6274575" cy="12450233"/>
            <a:chOff x="0" y="0"/>
            <a:chExt cx="3165983" cy="6282055"/>
          </a:xfrm>
        </p:grpSpPr>
        <p:sp>
          <p:nvSpPr>
            <p:cNvPr id="6" name="Freeform 6"/>
            <p:cNvSpPr/>
            <p:nvPr/>
          </p:nvSpPr>
          <p:spPr>
            <a:xfrm>
              <a:off x="4318" y="4318"/>
              <a:ext cx="3157347" cy="6273419"/>
            </a:xfrm>
            <a:custGeom>
              <a:avLst/>
              <a:gdLst/>
              <a:ahLst/>
              <a:cxnLst/>
              <a:rect l="l" t="t" r="r" b="b"/>
              <a:pathLst>
                <a:path w="3157347" h="6273419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E0E6E9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AR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3166110" cy="6282055"/>
            </a:xfrm>
            <a:custGeom>
              <a:avLst/>
              <a:gdLst/>
              <a:ahLst/>
              <a:cxnLst/>
              <a:rect l="l" t="t" r="r" b="b"/>
              <a:pathLst>
                <a:path w="3166110" h="6282055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E0E6E9"/>
            </a:solidFill>
          </p:spPr>
          <p:txBody>
            <a:bodyPr/>
            <a:lstStyle/>
            <a:p>
              <a:endParaRPr lang="es-AR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14229" y="6428718"/>
            <a:ext cx="12630150" cy="1114425"/>
            <a:chOff x="0" y="0"/>
            <a:chExt cx="3326459" cy="2935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326459" cy="293511"/>
            </a:xfrm>
            <a:custGeom>
              <a:avLst/>
              <a:gdLst/>
              <a:ahLst/>
              <a:cxnLst/>
              <a:rect l="l" t="t" r="r" b="b"/>
              <a:pathLst>
                <a:path w="3326459" h="293511">
                  <a:moveTo>
                    <a:pt x="3123259" y="0"/>
                  </a:moveTo>
                  <a:cubicBezTo>
                    <a:pt x="3235484" y="0"/>
                    <a:pt x="3326459" y="65705"/>
                    <a:pt x="3326459" y="146756"/>
                  </a:cubicBezTo>
                  <a:cubicBezTo>
                    <a:pt x="3326459" y="227806"/>
                    <a:pt x="3235484" y="293511"/>
                    <a:pt x="3123259" y="293511"/>
                  </a:cubicBezTo>
                  <a:lnTo>
                    <a:pt x="203200" y="293511"/>
                  </a:lnTo>
                  <a:cubicBezTo>
                    <a:pt x="90976" y="293511"/>
                    <a:pt x="0" y="227806"/>
                    <a:pt x="0" y="146756"/>
                  </a:cubicBezTo>
                  <a:cubicBezTo>
                    <a:pt x="0" y="6570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66675"/>
              <a:ext cx="3326459" cy="3601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4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36993" y="3534408"/>
            <a:ext cx="13235916" cy="3451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69"/>
              </a:lnSpc>
            </a:pPr>
            <a:r>
              <a:rPr lang="en-US" sz="7955" b="1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PROYECTO FINAL: CLUSTER DINAMICOS CON BASE INMOBILIARIA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9645" y="7638711"/>
            <a:ext cx="13293265" cy="13295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5"/>
              </a:lnSpc>
            </a:pPr>
            <a:r>
              <a:rPr lang="en-US" sz="2199" spc="103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MATERIA: TALLER DE PROGRAMACIÓN</a:t>
            </a:r>
          </a:p>
          <a:p>
            <a:pPr algn="l">
              <a:lnSpc>
                <a:spcPts val="2595"/>
              </a:lnSpc>
            </a:pPr>
            <a:r>
              <a:rPr lang="en-US" sz="2199" spc="103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ALUMNOS: RONNY SULCA Y MARTÍN ALVAREZ</a:t>
            </a:r>
          </a:p>
          <a:p>
            <a:pPr algn="l">
              <a:lnSpc>
                <a:spcPts val="2595"/>
              </a:lnSpc>
            </a:pPr>
            <a:r>
              <a:rPr lang="en-US" sz="2199" spc="103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PROFESORA: MARIA NOELIA ROMERO</a:t>
            </a:r>
          </a:p>
          <a:p>
            <a:pPr algn="l">
              <a:lnSpc>
                <a:spcPts val="2595"/>
              </a:lnSpc>
            </a:pPr>
            <a:endParaRPr lang="en-US" sz="2199" spc="103">
              <a:solidFill>
                <a:srgbClr val="FFFFFF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-428625" y="3501989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es-AR"/>
          </a:p>
        </p:txBody>
      </p:sp>
      <p:sp>
        <p:nvSpPr>
          <p:cNvPr id="14" name="AutoShape 14"/>
          <p:cNvSpPr/>
          <p:nvPr/>
        </p:nvSpPr>
        <p:spPr>
          <a:xfrm>
            <a:off x="12471329" y="7739549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oval" w="lg" len="lg"/>
            <a:tailEnd type="none" w="sm" len="sm"/>
          </a:ln>
        </p:spPr>
        <p:txBody>
          <a:bodyPr/>
          <a:lstStyle/>
          <a:p>
            <a:endParaRPr lang="es-AR"/>
          </a:p>
        </p:txBody>
      </p:sp>
      <p:grpSp>
        <p:nvGrpSpPr>
          <p:cNvPr id="15" name="Group 15"/>
          <p:cNvGrpSpPr>
            <a:grpSpLocks noChangeAspect="1"/>
          </p:cNvGrpSpPr>
          <p:nvPr/>
        </p:nvGrpSpPr>
        <p:grpSpPr>
          <a:xfrm rot="-5400000">
            <a:off x="9766900" y="5394670"/>
            <a:ext cx="6274575" cy="12450233"/>
            <a:chOff x="0" y="0"/>
            <a:chExt cx="3165983" cy="6282055"/>
          </a:xfrm>
        </p:grpSpPr>
        <p:sp>
          <p:nvSpPr>
            <p:cNvPr id="16" name="Freeform 16"/>
            <p:cNvSpPr/>
            <p:nvPr/>
          </p:nvSpPr>
          <p:spPr>
            <a:xfrm>
              <a:off x="4318" y="4318"/>
              <a:ext cx="3157347" cy="6273419"/>
            </a:xfrm>
            <a:custGeom>
              <a:avLst/>
              <a:gdLst/>
              <a:ahLst/>
              <a:cxnLst/>
              <a:rect l="l" t="t" r="r" b="b"/>
              <a:pathLst>
                <a:path w="3157347" h="6273419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9DB3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AR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0"/>
              <a:ext cx="3166110" cy="6282055"/>
            </a:xfrm>
            <a:custGeom>
              <a:avLst/>
              <a:gdLst/>
              <a:ahLst/>
              <a:cxnLst/>
              <a:rect l="l" t="t" r="r" b="b"/>
              <a:pathLst>
                <a:path w="3166110" h="6282055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9DB3C1"/>
            </a:solidFill>
          </p:spPr>
          <p:txBody>
            <a:bodyPr/>
            <a:lstStyle/>
            <a:p>
              <a:endParaRPr lang="es-AR"/>
            </a:p>
          </p:txBody>
        </p:sp>
      </p:grpSp>
      <p:grpSp>
        <p:nvGrpSpPr>
          <p:cNvPr id="18" name="Group 18"/>
          <p:cNvGrpSpPr>
            <a:grpSpLocks noChangeAspect="1"/>
          </p:cNvGrpSpPr>
          <p:nvPr/>
        </p:nvGrpSpPr>
        <p:grpSpPr>
          <a:xfrm rot="5400000">
            <a:off x="2154379" y="-6870065"/>
            <a:ext cx="6274575" cy="12450233"/>
            <a:chOff x="0" y="0"/>
            <a:chExt cx="3165983" cy="6282055"/>
          </a:xfrm>
        </p:grpSpPr>
        <p:sp>
          <p:nvSpPr>
            <p:cNvPr id="19" name="Freeform 19"/>
            <p:cNvSpPr/>
            <p:nvPr/>
          </p:nvSpPr>
          <p:spPr>
            <a:xfrm>
              <a:off x="4318" y="4318"/>
              <a:ext cx="3157347" cy="6273419"/>
            </a:xfrm>
            <a:custGeom>
              <a:avLst/>
              <a:gdLst/>
              <a:ahLst/>
              <a:cxnLst/>
              <a:rect l="l" t="t" r="r" b="b"/>
              <a:pathLst>
                <a:path w="3157347" h="6273419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5B696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A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0"/>
              <a:ext cx="3166110" cy="6282055"/>
            </a:xfrm>
            <a:custGeom>
              <a:avLst/>
              <a:gdLst/>
              <a:ahLst/>
              <a:cxnLst/>
              <a:rect l="l" t="t" r="r" b="b"/>
              <a:pathLst>
                <a:path w="3166110" h="6282055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5B696F"/>
            </a:solidFill>
          </p:spPr>
          <p:txBody>
            <a:bodyPr/>
            <a:lstStyle/>
            <a:p>
              <a:endParaRPr lang="es-A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940584" y="6465400"/>
            <a:ext cx="13347416" cy="0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oval" w="lg" len="lg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3" name="AutoShape 3"/>
          <p:cNvSpPr/>
          <p:nvPr/>
        </p:nvSpPr>
        <p:spPr>
          <a:xfrm>
            <a:off x="0" y="3285380"/>
            <a:ext cx="13347416" cy="0"/>
          </a:xfrm>
          <a:prstGeom prst="line">
            <a:avLst/>
          </a:prstGeom>
          <a:ln w="28575" cap="flat">
            <a:solidFill>
              <a:srgbClr val="FFFFFF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Box 4"/>
          <p:cNvSpPr txBox="1"/>
          <p:nvPr/>
        </p:nvSpPr>
        <p:spPr>
          <a:xfrm>
            <a:off x="2413184" y="4223785"/>
            <a:ext cx="12318716" cy="117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 spc="344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PROPUESTA DE TRABAJO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13184" y="5430501"/>
            <a:ext cx="14519718" cy="2295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sz="3420" spc="68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SE APLICARON CLUSTER DINAMICOS SOBRE LA BASE INMOBILIARIA MENSUAL DE ZONA PROP DURANTE EL PERIODO 2016-2025. EL OBJETIVO ES IFDENTIFICAR COMO EVOLUCIONARON LOS PRECIOS DEL M2 EN CADA UNO DE LOS CLUSTER DESIGNADOS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42957" y="3854852"/>
            <a:ext cx="1728747" cy="2388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16"/>
              </a:lnSpc>
            </a:pPr>
            <a:r>
              <a:rPr lang="en-US" sz="16188" spc="696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1</a:t>
            </a:r>
          </a:p>
        </p:txBody>
      </p:sp>
      <p:sp>
        <p:nvSpPr>
          <p:cNvPr id="7" name="AutoShape 7"/>
          <p:cNvSpPr/>
          <p:nvPr/>
        </p:nvSpPr>
        <p:spPr>
          <a:xfrm>
            <a:off x="1732555" y="5114925"/>
            <a:ext cx="439149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3279284"/>
            <a:chOff x="0" y="0"/>
            <a:chExt cx="4816593" cy="863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63680"/>
            </a:xfrm>
            <a:custGeom>
              <a:avLst/>
              <a:gdLst/>
              <a:ahLst/>
              <a:cxnLst/>
              <a:rect l="l" t="t" r="r" b="b"/>
              <a:pathLst>
                <a:path w="4816592" h="863680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32029" y="4293314"/>
            <a:ext cx="17310674" cy="434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Aplicación de clustering dinámico a datos inmobiliarios de ZonaProp (2016–2025).</a:t>
            </a:r>
          </a:p>
          <a:p>
            <a:pPr algn="just">
              <a:lnSpc>
                <a:spcPts val="3667"/>
              </a:lnSpc>
            </a:pPr>
            <a:endParaRPr lang="en-US" sz="2799" u="none" spc="5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Identificación de grupos de propiedades con características similares.</a:t>
            </a:r>
          </a:p>
          <a:p>
            <a:pPr algn="just">
              <a:lnSpc>
                <a:spcPts val="4322"/>
              </a:lnSpc>
            </a:pPr>
            <a:endParaRPr lang="en-US" sz="2799" u="none" spc="5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Análisis de la evolución temporal de los precios del m² en cada cluster.</a:t>
            </a:r>
          </a:p>
          <a:p>
            <a:pPr algn="just">
              <a:lnSpc>
                <a:spcPts val="3667"/>
              </a:lnSpc>
            </a:pPr>
            <a:endParaRPr lang="en-US" sz="2799" u="none" spc="5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Evaluar cómo cambian los patrones del mercado frente a shocks o ciclos.</a:t>
            </a:r>
          </a:p>
          <a:p>
            <a:pPr algn="just">
              <a:lnSpc>
                <a:spcPts val="4453"/>
              </a:lnSpc>
            </a:pPr>
            <a:endParaRPr lang="en-US" sz="2799" u="none" spc="5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Generar información útil para inversores, desarrolladores y análisis urbano.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066763"/>
            <a:ext cx="13103867" cy="117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PROPUESTA DE TRABAJO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3279284"/>
            <a:chOff x="0" y="0"/>
            <a:chExt cx="4816593" cy="863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63680"/>
            </a:xfrm>
            <a:custGeom>
              <a:avLst/>
              <a:gdLst/>
              <a:ahLst/>
              <a:cxnLst/>
              <a:rect l="l" t="t" r="r" b="b"/>
              <a:pathLst>
                <a:path w="4816592" h="863680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32029" y="4293314"/>
            <a:ext cx="17310674" cy="5066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Datos mensuales de </a:t>
            </a: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publicaciones de ZonaProp, último día hábil de cada mes.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Período analizado: 2016–2025.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Observaciones: departamentos, casas, PH, oficinas, etc.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Variables principales: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Precio (MontoOperacion)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Superficie total / cubierta / descubierta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Ubicación (Provincia, Localidad, Barrio, coordenadas)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Características (ambientes, dormitorios, cocheras, antigüedad, expensas)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Se combinan todas las bases en un único panel mensual.</a:t>
            </a:r>
          </a:p>
          <a:p>
            <a:pPr marL="604516" lvl="1" indent="-302258" algn="just">
              <a:lnSpc>
                <a:spcPts val="3667"/>
              </a:lnSpc>
              <a:buFont typeface="Arial"/>
              <a:buChar char="•"/>
            </a:pPr>
            <a:r>
              <a:rPr lang="en-US" sz="2799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Limpieza: tratamiento de outliers, duplicados, diferencias de formato y georreferencias.</a:t>
            </a:r>
          </a:p>
          <a:p>
            <a:pPr algn="just">
              <a:lnSpc>
                <a:spcPts val="3667"/>
              </a:lnSpc>
            </a:pPr>
            <a:endParaRPr lang="en-US" sz="2799" u="none" spc="5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1066763"/>
            <a:ext cx="13103867" cy="117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BASE DE DATOS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3279284"/>
            <a:chOff x="0" y="0"/>
            <a:chExt cx="4816593" cy="863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63680"/>
            </a:xfrm>
            <a:custGeom>
              <a:avLst/>
              <a:gdLst/>
              <a:ahLst/>
              <a:cxnLst/>
              <a:rect l="l" t="t" r="r" b="b"/>
              <a:pathLst>
                <a:path w="4816592" h="863680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25499" y="3405274"/>
            <a:ext cx="17237002" cy="868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Los clústers dinámicos son una metodología que extiende el clustering tradicional (estático) hacia datos que cambian en el tiempo.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En lugar de agrupar las observaciones una sola vez, se realiza un clustering mes a mes, y luego se hace un seguimiento de cómo cada grupo evoluciona, se transforma o desaparece.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Permiten estudiar transiciones, estabilidad y cambios estructurales en los patrones del mercado.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Construcción de </a:t>
            </a: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un dataset unificado y estandarizado para todo el período.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Normalización de variables numéricas (precio/m², superficies, ambientes).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Definición de métricas temporales: evolución mensual y tasas de cambio.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Aplicación de K-Means, DBSCAN o Gaussian Mixtures mes a mes.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Implementación del algoritmo de clustering dinámico: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Seguimiento de clusters a través del tiempo.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Emparejamiento de clusters entre meses mediante distancia de centros.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Detección de creación, fusión o desaparición de clusters.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Evaluación mediante métricas: Silhouette Score temporal, estabilidad intermensual.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Visualizaciones dinámicas: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Evolución del precio del m² por cluster.</a:t>
            </a:r>
          </a:p>
          <a:p>
            <a:pPr marL="601943" lvl="1" indent="-300972" algn="just">
              <a:lnSpc>
                <a:spcPts val="3652"/>
              </a:lnSpc>
              <a:buFont typeface="Arial"/>
              <a:buChar char="•"/>
            </a:pPr>
            <a:r>
              <a:rPr lang="en-US" sz="2788" u="none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Mapas de calor y geolocalización de clusters.</a:t>
            </a:r>
          </a:p>
          <a:p>
            <a:pPr algn="just">
              <a:lnSpc>
                <a:spcPts val="3652"/>
              </a:lnSpc>
            </a:pPr>
            <a:endParaRPr lang="en-US" sz="2788" u="none" spc="5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1066763"/>
            <a:ext cx="13103867" cy="117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METODOLOGÍA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3279284"/>
            <a:chOff x="0" y="0"/>
            <a:chExt cx="4816593" cy="863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63680"/>
            </a:xfrm>
            <a:custGeom>
              <a:avLst/>
              <a:gdLst/>
              <a:ahLst/>
              <a:cxnLst/>
              <a:rect l="l" t="t" r="r" b="b"/>
              <a:pathLst>
                <a:path w="4816592" h="863680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4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066763"/>
            <a:ext cx="13103867" cy="117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RESULTADOS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408</Words>
  <Application>Microsoft Office PowerPoint</Application>
  <PresentationFormat>Personalizado</PresentationFormat>
  <Paragraphs>45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Codec Pro</vt:lpstr>
      <vt:lpstr>Oswald</vt:lpstr>
      <vt:lpstr>Oswald Bold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final - Programación</dc:title>
  <cp:lastModifiedBy>Martin Alvarez</cp:lastModifiedBy>
  <cp:revision>1</cp:revision>
  <dcterms:created xsi:type="dcterms:W3CDTF">2006-08-16T00:00:00Z</dcterms:created>
  <dcterms:modified xsi:type="dcterms:W3CDTF">2025-11-30T19:50:35Z</dcterms:modified>
  <dc:identifier>DAG6IyR2U0s</dc:identifier>
</cp:coreProperties>
</file>